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19113"/>
            <a:ext cx="76200" cy="76200"/>
          </a:xfrm>
          <a:prstGeom prst="ellipse">
            <a:avLst/>
          </a:prstGeom>
          <a:solidFill>
            <a:srgbClr val="E8932E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457200"/>
            <a:ext cx="31912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F4EFE6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DIGIKAWSAY · INVESTORS DECK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5414575" y="457200"/>
            <a:ext cx="18066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— PRE-SEED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143000" y="1524000"/>
            <a:ext cx="685800" cy="685800"/>
          </a:xfrm>
          <a:prstGeom prst="ellipse">
            <a:avLst/>
          </a:prstGeom>
          <a:solidFill>
            <a:srgbClr val="F4EFE6">
              <a:alpha val="8000"/>
            </a:srgbClr>
          </a:solidFill>
          <a:ln w="9525">
            <a:solidFill>
              <a:srgbClr val="F4EFE6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9225" y="1800225"/>
            <a:ext cx="133350" cy="133350"/>
          </a:xfrm>
          <a:prstGeom prst="ellipse">
            <a:avLst/>
          </a:prstGeom>
          <a:solidFill>
            <a:srgbClr val="E8932E"/>
          </a:solidFill>
          <a:ln/>
        </p:spPr>
      </p:sp>
      <p:sp>
        <p:nvSpPr>
          <p:cNvPr id="7" name="Text 5"/>
          <p:cNvSpPr/>
          <p:nvPr/>
        </p:nvSpPr>
        <p:spPr>
          <a:xfrm>
            <a:off x="2095500" y="1757363"/>
            <a:ext cx="270623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0" kern="0" dirty="0">
                <a:solidFill>
                  <a:srgbClr val="F4EFE6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ECOSISTEMA H PLUS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2902148"/>
            <a:ext cx="147161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0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DIGIKAWSAY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43000" y="3492698"/>
            <a:ext cx="14716125" cy="4235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100" b="1" spc="-203" kern="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motor de ejecución estratégica que transforma </a:t>
            </a:r>
            <a:pPr algn="l" indent="0" marL="0">
              <a:lnSpc>
                <a:spcPct val="102000"/>
              </a:lnSpc>
              <a:buNone/>
            </a:pPr>
            <a:r>
              <a:rPr lang="en-US" sz="8100" b="1" spc="-203" kern="0" dirty="0">
                <a:solidFill>
                  <a:srgbClr val="F2B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cultura oculta </a:t>
            </a:r>
            <a:pPr algn="l" indent="0" marL="0">
              <a:lnSpc>
                <a:spcPct val="102000"/>
              </a:lnSpc>
              <a:buNone/>
            </a:pPr>
            <a:r>
              <a:rPr lang="en-US" sz="8100" b="1" spc="-203" kern="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rendimiento financiero.</a:t>
            </a:r>
            <a:endParaRPr lang="en-US" sz="8100" dirty="0"/>
          </a:p>
        </p:txBody>
      </p:sp>
      <p:sp>
        <p:nvSpPr>
          <p:cNvPr id="10" name="Text 8"/>
          <p:cNvSpPr/>
          <p:nvPr/>
        </p:nvSpPr>
        <p:spPr>
          <a:xfrm>
            <a:off x="1143000" y="8382000"/>
            <a:ext cx="308655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spc="75" kern="0" dirty="0">
                <a:solidFill>
                  <a:srgbClr val="F4EFE6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— Ronda institucional Q2 · 2026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760994" y="8729663"/>
            <a:ext cx="133796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80" kern="0" dirty="0">
                <a:solidFill>
                  <a:srgbClr val="F4EFE6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479959" y="8677275"/>
            <a:ext cx="4146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F4EFE6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23194" y="8677275"/>
            <a:ext cx="15031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F4EFE6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502110" y="8677275"/>
            <a:ext cx="15415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F4EFE6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DigiKawsay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272272" y="8677275"/>
            <a:ext cx="15031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F4EFE6">
                    <a:alpha val="3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651188" y="8677275"/>
            <a:ext cx="57001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F4EFE6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9772650"/>
            <a:ext cx="106129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F4EFE6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604903" y="9772650"/>
            <a:ext cx="61629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F4EFE6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19113"/>
            <a:ext cx="76200" cy="76200"/>
          </a:xfrm>
          <a:prstGeom prst="ellipse">
            <a:avLst/>
          </a:prstGeom>
          <a:solidFill>
            <a:srgbClr val="E8932E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457200"/>
            <a:ext cx="162758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PROPÓSITO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5940832" y="457200"/>
            <a:ext cx="12803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DIGIKAWSAY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1276350"/>
            <a:ext cx="147161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 DE LA COMPAÑÍA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2519809"/>
            <a:ext cx="14716125" cy="2136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100" b="1" spc="-102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Transformamos la cultura oculta de su organización en rendimiento financiero medible.</a:t>
            </a:r>
            <a:endParaRPr lang="en-US" sz="5100" dirty="0"/>
          </a:p>
        </p:txBody>
      </p:sp>
      <p:sp>
        <p:nvSpPr>
          <p:cNvPr id="7" name="Shape 5"/>
          <p:cNvSpPr/>
          <p:nvPr/>
        </p:nvSpPr>
        <p:spPr>
          <a:xfrm>
            <a:off x="1143000" y="6288732"/>
            <a:ext cx="7982843" cy="952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6507807"/>
            <a:ext cx="83820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33600" y="6507807"/>
            <a:ext cx="720201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Aceleramos la transformación digital revelando y resolviendo las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fricciones operativas ocultas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7410599"/>
            <a:ext cx="7982843" cy="952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7629674"/>
            <a:ext cx="83820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33600" y="7629674"/>
            <a:ext cx="720201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Convertimos el conocimiento informal del equipo en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OKRs ejecutables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143000" y="9654332"/>
            <a:ext cx="7982843" cy="952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" y="8532465"/>
            <a:ext cx="7982843" cy="952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8751540"/>
            <a:ext cx="83820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33600" y="8751540"/>
            <a:ext cx="720201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Traducimos la complejidad sociológica en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financiero directo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mitigación de riesgos.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887843" y="5623620"/>
            <a:ext cx="7257157" cy="2038350"/>
          </a:xfrm>
          <a:prstGeom prst="rect">
            <a:avLst/>
          </a:prstGeom>
          <a:solidFill>
            <a:srgbClr val="FFFFFF">
              <a:alpha val="35000"/>
            </a:srgbClr>
          </a:solidFill>
          <a:ln w="9525">
            <a:solidFill>
              <a:srgbClr val="14375E">
                <a:alpha val="1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02168" y="5937945"/>
            <a:ext cx="68273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— ENCUESTA DE CLIMA ESTÁTICA</a:t>
            </a:r>
            <a:endParaRPr lang="en-US" sz="10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2168" y="6261795"/>
            <a:ext cx="6628507" cy="762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202168" y="7195245"/>
            <a:ext cx="68273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Catarsis estéril, datos agregados, acción nula.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887843" y="8004870"/>
            <a:ext cx="7257157" cy="2324100"/>
          </a:xfrm>
          <a:prstGeom prst="rect">
            <a:avLst/>
          </a:prstGeom>
          <a:solidFill>
            <a:srgbClr val="14375E">
              <a:alpha val="4000"/>
            </a:srgbClr>
          </a:solidFill>
          <a:ln w="9525">
            <a:solidFill>
              <a:srgbClr val="14375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202168" y="8319195"/>
            <a:ext cx="68273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— ENJAMBRE DE AGENTES MAPEANDO LA RED</a:t>
            </a:r>
            <a:endParaRPr lang="en-US" sz="105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2168" y="8643045"/>
            <a:ext cx="6628507" cy="104775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202168" y="9862245"/>
            <a:ext cx="68273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Praxis ejecutable, redes reales, OKRs accionables.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1143000" y="9772650"/>
            <a:ext cx="234999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DigiKawsay · Pre-Seed 2026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6604903" y="9772650"/>
            <a:ext cx="61629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19113"/>
            <a:ext cx="76200" cy="76200"/>
          </a:xfrm>
          <a:prstGeom prst="ellipse">
            <a:avLst/>
          </a:prstGeom>
          <a:solidFill>
            <a:srgbClr val="E8932E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457200"/>
            <a:ext cx="184249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EL PROBLEMA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5940832" y="457200"/>
            <a:ext cx="12803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DIGIKAWSAY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1047750"/>
            <a:ext cx="147161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1757809"/>
            <a:ext cx="14716125" cy="2136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100" b="1" spc="-102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estructura formal es una ilusión. La fricción operativa drena hasta el </a:t>
            </a:r>
            <a:pPr algn="l" indent="0" marL="0">
              <a:lnSpc>
                <a:spcPct val="108000"/>
              </a:lnSpc>
              <a:buNone/>
            </a:pPr>
            <a:r>
              <a:rPr lang="en-US" sz="5100" b="1" spc="-102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de los ingresos</a:t>
            </a:r>
            <a:pPr algn="l" indent="0" marL="0">
              <a:lnSpc>
                <a:spcPct val="108000"/>
              </a:lnSpc>
              <a:buNone/>
            </a:pPr>
            <a:r>
              <a:rPr lang="en-US" sz="5100" b="1" spc="-102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5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4861620"/>
            <a:ext cx="6096000" cy="5334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01000" y="5285482"/>
            <a:ext cx="9144000" cy="952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8001000" y="5285482"/>
            <a:ext cx="9525" cy="448627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8010525" y="7523857"/>
            <a:ext cx="4567238" cy="952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2568238" y="5295007"/>
            <a:ext cx="9525" cy="223837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353425" y="5599807"/>
            <a:ext cx="398807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162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70-84</a:t>
            </a:r>
            <a:pPr algn="l" indent="0" marL="0">
              <a:lnSpc>
                <a:spcPct val="100000"/>
              </a:lnSpc>
              <a:buNone/>
            </a:pPr>
            <a:r>
              <a:rPr lang="en-US" sz="5400" b="1" spc="-162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5400" dirty="0"/>
          </a:p>
        </p:txBody>
      </p:sp>
      <p:sp>
        <p:nvSpPr>
          <p:cNvPr id="13" name="Text 10"/>
          <p:cNvSpPr/>
          <p:nvPr/>
        </p:nvSpPr>
        <p:spPr>
          <a:xfrm>
            <a:off x="8353425" y="6418957"/>
            <a:ext cx="398807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transformaciones digitales fracasan por fricciones organizacionales y resistencia humana — no por fallas tecnológicas.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2577763" y="7523857"/>
            <a:ext cx="4567238" cy="952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7135475" y="5295007"/>
            <a:ext cx="9525" cy="223837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2920663" y="5599807"/>
            <a:ext cx="398807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162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pPr algn="l" indent="0" marL="0">
              <a:lnSpc>
                <a:spcPct val="100000"/>
              </a:lnSpc>
              <a:buNone/>
            </a:pPr>
            <a:r>
              <a:rPr lang="en-US" sz="5400" b="1" spc="-162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5400" dirty="0"/>
          </a:p>
        </p:txBody>
      </p:sp>
      <p:sp>
        <p:nvSpPr>
          <p:cNvPr id="17" name="Text 14"/>
          <p:cNvSpPr/>
          <p:nvPr/>
        </p:nvSpPr>
        <p:spPr>
          <a:xfrm>
            <a:off x="12920663" y="6418957"/>
            <a:ext cx="39880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ingresos drenados por silos de conocimiento y procesos fragmentados.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010525" y="9762232"/>
            <a:ext cx="4567238" cy="952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2568238" y="7533382"/>
            <a:ext cx="9525" cy="223837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8353425" y="7838182"/>
            <a:ext cx="398807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162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30-40</a:t>
            </a:r>
            <a:pPr algn="l" indent="0" marL="0">
              <a:lnSpc>
                <a:spcPct val="100000"/>
              </a:lnSpc>
              <a:buNone/>
            </a:pPr>
            <a:r>
              <a:rPr lang="en-US" sz="5400" b="1" spc="-162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5400" dirty="0"/>
          </a:p>
        </p:txBody>
      </p:sp>
      <p:sp>
        <p:nvSpPr>
          <p:cNvPr id="21" name="Text 18"/>
          <p:cNvSpPr/>
          <p:nvPr/>
        </p:nvSpPr>
        <p:spPr>
          <a:xfrm>
            <a:off x="8353425" y="8657332"/>
            <a:ext cx="398807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presupuesto tecnológico empresarial consumido por Shadow IT — herramientas no autorizadas adoptadas por frustración.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12577763" y="9762232"/>
            <a:ext cx="4567238" cy="952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7135475" y="7533382"/>
            <a:ext cx="9525" cy="223837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12920663" y="7838182"/>
            <a:ext cx="398807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162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pPr algn="l" indent="0" marL="0">
              <a:lnSpc>
                <a:spcPct val="100000"/>
              </a:lnSpc>
              <a:buNone/>
            </a:pPr>
            <a:r>
              <a:rPr lang="en-US" sz="5400" b="1" spc="-162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5400" dirty="0"/>
          </a:p>
        </p:txBody>
      </p:sp>
      <p:sp>
        <p:nvSpPr>
          <p:cNvPr id="25" name="Text 22"/>
          <p:cNvSpPr/>
          <p:nvPr/>
        </p:nvSpPr>
        <p:spPr>
          <a:xfrm>
            <a:off x="12920663" y="8657332"/>
            <a:ext cx="398807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empleados se sienten incapaces de advertir sobre problemas sistémicos a sus superiores.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143000" y="9772650"/>
            <a:ext cx="234999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DigiKawsay · Pre-Seed 2026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6604903" y="9772650"/>
            <a:ext cx="61629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19113"/>
            <a:ext cx="76200" cy="76200"/>
          </a:xfrm>
          <a:prstGeom prst="ellipse">
            <a:avLst/>
          </a:prstGeom>
          <a:solidFill>
            <a:srgbClr val="E8932E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457200"/>
            <a:ext cx="17822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LA SOLUCIÓN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5940832" y="457200"/>
            <a:ext cx="12803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DIGIKAWSAY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1047750"/>
            <a:ext cx="15697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1757809"/>
            <a:ext cx="15697200" cy="1437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100" b="1" spc="-102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Telemetría empírica de la praxis: de la </a:t>
            </a:r>
            <a:pPr algn="l" indent="0" marL="0">
              <a:lnSpc>
                <a:spcPct val="108000"/>
              </a:lnSpc>
              <a:buNone/>
            </a:pPr>
            <a:r>
              <a:rPr lang="en-US" sz="5100" b="1" strike="sngStrike" spc="-102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catarsis estéril </a:t>
            </a:r>
            <a:pPr algn="l" indent="0" marL="0">
              <a:lnSpc>
                <a:spcPct val="108000"/>
              </a:lnSpc>
              <a:buNone/>
            </a:pPr>
            <a:r>
              <a:rPr lang="en-US" sz="5100" b="1" spc="-102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 movilización ejecutable.</a:t>
            </a:r>
            <a:endParaRPr lang="en-US" sz="5100" dirty="0"/>
          </a:p>
        </p:txBody>
      </p:sp>
      <p:sp>
        <p:nvSpPr>
          <p:cNvPr id="7" name="Shape 5"/>
          <p:cNvSpPr/>
          <p:nvPr/>
        </p:nvSpPr>
        <p:spPr>
          <a:xfrm>
            <a:off x="1143000" y="5432971"/>
            <a:ext cx="9525" cy="2725936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457325" y="5775871"/>
            <a:ext cx="348281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DIAGNÓSTICO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57325" y="6147346"/>
            <a:ext cx="348281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-21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Entrevistas asíncronas a escala con VAL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457325" y="6958757"/>
            <a:ext cx="348281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Reemplazamos las encuestas estáticas superficiales por diálogos profundos con nuestro agente sentipensante.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143500" y="5432971"/>
            <a:ext cx="9525" cy="2725936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57825" y="5775871"/>
            <a:ext cx="348281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DISCERNIMIENTO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57825" y="6147346"/>
            <a:ext cx="348281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-21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 de praxis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457825" y="6638776"/>
            <a:ext cx="348281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Diferenciamos la queja (catarsis) de la propuesta constructiva, separando ruido de señal accionable.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0" y="5432971"/>
            <a:ext cx="9525" cy="2725936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458325" y="5775871"/>
            <a:ext cx="348281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VISIBILIZACIÓN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458325" y="6147346"/>
            <a:ext cx="348281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-21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Quiebres de coordinación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458325" y="6958757"/>
            <a:ext cx="348281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Identificamos las estructuras opresivas reales y los puntos donde la coordinación diaria se rompe.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3144500" y="5432971"/>
            <a:ext cx="4000500" cy="2725936"/>
          </a:xfrm>
          <a:prstGeom prst="rect">
            <a:avLst/>
          </a:prstGeom>
          <a:solidFill>
            <a:srgbClr val="E8932E">
              <a:alpha val="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144500" y="5432971"/>
            <a:ext cx="9525" cy="2725936"/>
          </a:xfrm>
          <a:prstGeom prst="rect">
            <a:avLst/>
          </a:prstGeom>
          <a:solidFill>
            <a:srgbClr val="E8932E"/>
          </a:solidFill>
          <a:ln/>
        </p:spPr>
      </p:sp>
      <p:sp>
        <p:nvSpPr>
          <p:cNvPr id="21" name="Shape 19"/>
          <p:cNvSpPr/>
          <p:nvPr/>
        </p:nvSpPr>
        <p:spPr>
          <a:xfrm>
            <a:off x="17135475" y="5432971"/>
            <a:ext cx="9525" cy="2725936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3458825" y="5775871"/>
            <a:ext cx="347300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MOVILIZACIÓN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458825" y="6147346"/>
            <a:ext cx="347300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-21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OKRs + Plan de Movilización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3458825" y="6958757"/>
            <a:ext cx="347300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Traducimos los insights sociológicos en objetivos de negocio medibles y un plan de ejecución concreto.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43000" y="9772650"/>
            <a:ext cx="234999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DigiKawsay · Pre-Seed 2026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604903" y="9772650"/>
            <a:ext cx="61629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19113"/>
            <a:ext cx="76200" cy="76200"/>
          </a:xfrm>
          <a:prstGeom prst="ellipse">
            <a:avLst/>
          </a:prstGeom>
          <a:solidFill>
            <a:srgbClr val="E8932E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457200"/>
            <a:ext cx="210472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POR QUÉ AHORA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5940832" y="457200"/>
            <a:ext cx="12803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DIGIKAWSAY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1047750"/>
            <a:ext cx="15697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AHORA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1757809"/>
            <a:ext cx="15697200" cy="1437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100" b="1" spc="-102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adopción de IA agéntica exige organizaciones libres de fricción estructural.</a:t>
            </a:r>
            <a:endParaRPr lang="en-US" sz="5100" dirty="0"/>
          </a:p>
        </p:txBody>
      </p:sp>
      <p:sp>
        <p:nvSpPr>
          <p:cNvPr id="7" name="Shape 5"/>
          <p:cNvSpPr/>
          <p:nvPr/>
        </p:nvSpPr>
        <p:spPr>
          <a:xfrm>
            <a:off x="1143000" y="4274790"/>
            <a:ext cx="7805738" cy="5500688"/>
          </a:xfrm>
          <a:prstGeom prst="rect">
            <a:avLst/>
          </a:prstGeom>
          <a:solidFill>
            <a:srgbClr val="FFFFFF">
              <a:alpha val="35000"/>
            </a:srgbClr>
          </a:solidFill>
          <a:ln w="9525">
            <a:solidFill>
              <a:srgbClr val="14375E">
                <a:alpha val="1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33525" y="4741515"/>
            <a:ext cx="72354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SALUD ORGANIZACIONAL × ROI DE IA</a:t>
            </a:r>
            <a:endParaRPr lang="en-US" sz="1125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3525" y="5132040"/>
            <a:ext cx="7024688" cy="421481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710738" y="3971627"/>
            <a:ext cx="7434114" cy="952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9710738" y="4171652"/>
            <a:ext cx="145405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162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pPr algn="l" indent="0" marL="0">
              <a:lnSpc>
                <a:spcPct val="100000"/>
              </a:lnSpc>
              <a:buNone/>
            </a:pPr>
            <a:r>
              <a:rPr lang="en-US" sz="5400" b="1" spc="-162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5400" dirty="0"/>
          </a:p>
        </p:txBody>
      </p:sp>
      <p:sp>
        <p:nvSpPr>
          <p:cNvPr id="12" name="Text 9"/>
          <p:cNvSpPr/>
          <p:nvPr/>
        </p:nvSpPr>
        <p:spPr>
          <a:xfrm>
            <a:off x="9710738" y="4933652"/>
            <a:ext cx="529780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proyectos piloto corporativos de IA generativa fracasan o se estancan por falta de preparación organizacional.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9710738" y="6004173"/>
            <a:ext cx="7434114" cy="952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9710738" y="6204198"/>
            <a:ext cx="183653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162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</a:t>
            </a:r>
            <a:pPr algn="l" indent="0" marL="0">
              <a:lnSpc>
                <a:spcPct val="100000"/>
              </a:lnSpc>
              <a:buNone/>
            </a:pPr>
            <a:r>
              <a:rPr lang="en-US" sz="5400" b="1" spc="-162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5400" dirty="0"/>
          </a:p>
        </p:txBody>
      </p:sp>
      <p:sp>
        <p:nvSpPr>
          <p:cNvPr id="15" name="Text 12"/>
          <p:cNvSpPr/>
          <p:nvPr/>
        </p:nvSpPr>
        <p:spPr>
          <a:xfrm>
            <a:off x="9710738" y="6966198"/>
            <a:ext cx="529780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uplift directo en ROI cuando la deuda técnica y la fricción organizacional se reducen antes de implementar IA.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9710738" y="10069264"/>
            <a:ext cx="7434114" cy="952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9710738" y="8036719"/>
            <a:ext cx="7434114" cy="952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9710738" y="8236744"/>
            <a:ext cx="229046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162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15-25</a:t>
            </a:r>
            <a:pPr algn="l" indent="0" marL="0">
              <a:lnSpc>
                <a:spcPct val="100000"/>
              </a:lnSpc>
              <a:buNone/>
            </a:pPr>
            <a:r>
              <a:rPr lang="en-US" sz="5400" b="1" spc="-162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5400" dirty="0"/>
          </a:p>
        </p:txBody>
      </p:sp>
      <p:sp>
        <p:nvSpPr>
          <p:cNvPr id="19" name="Text 16"/>
          <p:cNvSpPr/>
          <p:nvPr/>
        </p:nvSpPr>
        <p:spPr>
          <a:xfrm>
            <a:off x="9710738" y="8998744"/>
            <a:ext cx="529780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eficiencia desbloqueada hacia el margen de beneficio al optimizar áreas indirectas y acelerar el time-to-market.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1143000" y="9772650"/>
            <a:ext cx="234999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DigiKawsay · Pre-Seed 2026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6604903" y="9772650"/>
            <a:ext cx="61629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19113"/>
            <a:ext cx="76200" cy="76200"/>
          </a:xfrm>
          <a:prstGeom prst="ellipse">
            <a:avLst/>
          </a:prstGeom>
          <a:solidFill>
            <a:srgbClr val="E8932E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457200"/>
            <a:ext cx="275528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TAMAÑO DEL MERCADO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5940832" y="457200"/>
            <a:ext cx="12803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DIGIKAWSAY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1047750"/>
            <a:ext cx="15697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TAMAÑO DEL MERCADO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1757809"/>
            <a:ext cx="15697200" cy="1437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100" b="1" spc="-102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Capturando el valor de la reestructuración y la eficiencia tecnológica B2B.</a:t>
            </a:r>
            <a:endParaRPr lang="en-US" sz="5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992463"/>
            <a:ext cx="7620000" cy="5334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525000" y="3971627"/>
            <a:ext cx="7620000" cy="952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525000" y="4247852"/>
            <a:ext cx="838200" cy="147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0" y="4247852"/>
            <a:ext cx="6828282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$299B+ </a:t>
            </a:r>
            <a:pPr algn="l" indent="0" marL="0">
              <a:lnSpc>
                <a:spcPct val="110000"/>
              </a:lnSpc>
              <a:buNone/>
            </a:pPr>
            <a:r>
              <a:rPr lang="en-US" sz="1650" spc="-72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2025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10515600" y="4826943"/>
            <a:ext cx="682828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Gasto mundial proyectado en aplicaciones SaaS empresariales. Capturar el Shadow IT (30-40% del gasto total TI) representa una oportunidad de ahorro masiva.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9525000" y="5950893"/>
            <a:ext cx="7620000" cy="952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9525000" y="6227118"/>
            <a:ext cx="838200" cy="118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515600" y="6227118"/>
            <a:ext cx="6828282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$597.5M </a:t>
            </a:r>
            <a:pPr algn="l" indent="0" marL="0">
              <a:lnSpc>
                <a:spcPct val="110000"/>
              </a:lnSpc>
              <a:buNone/>
            </a:pPr>
            <a:r>
              <a:rPr lang="en-US" sz="1650" spc="-72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16.9%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10515600" y="6806208"/>
            <a:ext cx="682828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global de Análisis de Redes Organizacionales (ONA) hacia 2030, impulsado por fusiones y adquisiciones.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525000" y="9337923"/>
            <a:ext cx="7620000" cy="952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9525000" y="7644408"/>
            <a:ext cx="7620000" cy="952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9525000" y="7920633"/>
            <a:ext cx="838200" cy="118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515600" y="7920633"/>
            <a:ext cx="6828282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– 5,000+ </a:t>
            </a:r>
            <a:pPr algn="l" indent="0" marL="0">
              <a:lnSpc>
                <a:spcPct val="110000"/>
              </a:lnSpc>
              <a:buNone/>
            </a:pPr>
            <a:r>
              <a:rPr lang="en-US" sz="1650" spc="-72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empleados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10515600" y="8499723"/>
            <a:ext cx="682828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ICP principal: organizaciones mid-market atravesando transformaciones tecnológicas estancadas o eventos M&amp;A.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143000" y="9772650"/>
            <a:ext cx="234999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DigiKawsay · Pre-Seed 2026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6604903" y="9772650"/>
            <a:ext cx="61629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19113"/>
            <a:ext cx="76200" cy="76200"/>
          </a:xfrm>
          <a:prstGeom prst="ellipse">
            <a:avLst/>
          </a:prstGeom>
          <a:solidFill>
            <a:srgbClr val="E8932E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457200"/>
            <a:ext cx="186779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EL PRODUCTO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5940832" y="457200"/>
            <a:ext cx="12803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DIGIKAWSAY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1047750"/>
            <a:ext cx="15697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PRODUCTO / LA MAGIA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1757809"/>
            <a:ext cx="15697200" cy="1437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100" b="1" spc="-102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Enjambres de IA que decodifican y mapean el ADN operativo oculto.</a:t>
            </a:r>
            <a:endParaRPr lang="en-US" sz="5100" dirty="0"/>
          </a:p>
        </p:txBody>
      </p:sp>
      <p:sp>
        <p:nvSpPr>
          <p:cNvPr id="7" name="Shape 5"/>
          <p:cNvSpPr/>
          <p:nvPr/>
        </p:nvSpPr>
        <p:spPr>
          <a:xfrm>
            <a:off x="1143000" y="3971627"/>
            <a:ext cx="8312646" cy="6519863"/>
          </a:xfrm>
          <a:prstGeom prst="rect">
            <a:avLst/>
          </a:prstGeom>
          <a:solidFill>
            <a:srgbClr val="14375E">
              <a:alpha val="4000"/>
            </a:srgbClr>
          </a:solidFill>
          <a:ln w="9525">
            <a:solidFill>
              <a:srgbClr val="14375E">
                <a:alpha val="1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95425" y="4324052"/>
            <a:ext cx="354750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TOPOLÓGICO DE DATOS (TDA)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14023" y="4328815"/>
            <a:ext cx="5653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6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975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425" y="4666952"/>
            <a:ext cx="7607796" cy="5434013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217646" y="4926657"/>
            <a:ext cx="6927354" cy="952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217646" y="5164782"/>
            <a:ext cx="71351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TDA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217646" y="5479107"/>
            <a:ext cx="7135175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multi-agente que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trasciende el análisis de sentimientos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aplicando Análisis Topológico de Datos para mapear redes humanas reales.</a:t>
            </a:r>
            <a:endParaRPr lang="en-US" sz="1950" dirty="0"/>
          </a:p>
        </p:txBody>
      </p:sp>
      <p:sp>
        <p:nvSpPr>
          <p:cNvPr id="14" name="Shape 11"/>
          <p:cNvSpPr/>
          <p:nvPr/>
        </p:nvSpPr>
        <p:spPr>
          <a:xfrm>
            <a:off x="10217646" y="6823770"/>
            <a:ext cx="6927354" cy="952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0217646" y="7061895"/>
            <a:ext cx="71351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Conocimiento tácito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217646" y="7376220"/>
            <a:ext cx="7135175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Extraemos saberes informales, documentamos Shadow IT y detectamos atajos operativos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alienar al empleado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17" name="Shape 14"/>
          <p:cNvSpPr/>
          <p:nvPr/>
        </p:nvSpPr>
        <p:spPr>
          <a:xfrm>
            <a:off x="10217646" y="8374261"/>
            <a:ext cx="6927354" cy="952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0217646" y="8574286"/>
            <a:ext cx="71351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El Espejo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217646" y="8869561"/>
            <a:ext cx="713517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Resonancia semántica que cruza perspectivas y fomenta conciencia colectiva, </a:t>
            </a:r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romper el anonimato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75" dirty="0"/>
          </a:p>
        </p:txBody>
      </p:sp>
      <p:sp>
        <p:nvSpPr>
          <p:cNvPr id="20" name="Text 17"/>
          <p:cNvSpPr/>
          <p:nvPr/>
        </p:nvSpPr>
        <p:spPr>
          <a:xfrm>
            <a:off x="1143000" y="9772650"/>
            <a:ext cx="234999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DigiKawsay · Pre-Seed 2026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6604903" y="9772650"/>
            <a:ext cx="61629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19113"/>
            <a:ext cx="76200" cy="76200"/>
          </a:xfrm>
          <a:prstGeom prst="ellipse">
            <a:avLst/>
          </a:prstGeom>
          <a:solidFill>
            <a:srgbClr val="E8932E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457200"/>
            <a:ext cx="26073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MODELO DE NEGOCIO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5940832" y="457200"/>
            <a:ext cx="12803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DIGIKAWSAY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1047750"/>
            <a:ext cx="15697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NEGOCIO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1757809"/>
            <a:ext cx="15697200" cy="1437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100" b="1" spc="-102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Vendemos al </a:t>
            </a:r>
            <a:pPr algn="l" indent="0" marL="0">
              <a:lnSpc>
                <a:spcPct val="108000"/>
              </a:lnSpc>
              <a:buNone/>
            </a:pPr>
            <a:r>
              <a:rPr lang="en-US" sz="5100" b="1" spc="-102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 </a:t>
            </a:r>
            <a:pPr algn="l" indent="0" marL="0">
              <a:lnSpc>
                <a:spcPct val="108000"/>
              </a:lnSpc>
              <a:buNone/>
            </a:pPr>
            <a:r>
              <a:rPr lang="en-US" sz="5100" b="1" spc="-102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 al CHRO. Mitigación de riesgos operativos, no presupuestos de RR.HH.</a:t>
            </a:r>
            <a:endParaRPr lang="en-US" sz="5100" dirty="0"/>
          </a:p>
        </p:txBody>
      </p:sp>
      <p:sp>
        <p:nvSpPr>
          <p:cNvPr id="7" name="Shape 5"/>
          <p:cNvSpPr/>
          <p:nvPr/>
        </p:nvSpPr>
        <p:spPr>
          <a:xfrm>
            <a:off x="1143000" y="4162127"/>
            <a:ext cx="7572375" cy="4953000"/>
          </a:xfrm>
          <a:prstGeom prst="rect">
            <a:avLst/>
          </a:prstGeom>
          <a:solidFill>
            <a:srgbClr val="FFFFFF">
              <a:alpha val="30000"/>
            </a:srgbClr>
          </a:solidFill>
          <a:ln w="9525">
            <a:solidFill>
              <a:srgbClr val="14375E">
                <a:alpha val="1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9225" y="3866852"/>
            <a:ext cx="77799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189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DOLOR OPERATIVO →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 rot="-5400000">
            <a:off x="280541" y="7745685"/>
            <a:ext cx="2286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PODER PRESUPUESTAL →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152525" y="6638627"/>
            <a:ext cx="7553325" cy="952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929188" y="4171652"/>
            <a:ext cx="9525" cy="4933950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465987" y="4862364"/>
            <a:ext cx="1333500" cy="1333500"/>
          </a:xfrm>
          <a:prstGeom prst="ellipse">
            <a:avLst/>
          </a:prstGeom>
          <a:solidFill>
            <a:srgbClr val="14375E"/>
          </a:solidFill>
          <a:ln w="28575">
            <a:solidFill>
              <a:srgbClr val="E8932E"/>
            </a:solidFill>
            <a:prstDash val="solid"/>
          </a:ln>
          <a:effectLst>
            <a:outerShdw sx="100000" sy="100000" kx="0" ky="0" algn="bl" rotWithShape="0" blurRad="228600" dist="76200" dir="5400000">
              <a:srgbClr val="14375E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32538" y="5243364"/>
            <a:ext cx="87659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54" kern="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810821" y="5700564"/>
            <a:ext cx="72003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24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PRIMARIO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5298281" y="5947767"/>
            <a:ext cx="990600" cy="990600"/>
          </a:xfrm>
          <a:prstGeom prst="ellipse">
            <a:avLst/>
          </a:prstGeom>
          <a:solidFill>
            <a:srgbClr val="14375E">
              <a:alpha val="12000"/>
            </a:srgbClr>
          </a:solidFill>
          <a:ln w="9525">
            <a:solidFill>
              <a:srgbClr val="1437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58730" y="6176367"/>
            <a:ext cx="5457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5307806" y="6500217"/>
            <a:ext cx="1047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CO-COMPRADOR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209949" y="7455545"/>
            <a:ext cx="762000" cy="762000"/>
          </a:xfrm>
          <a:prstGeom prst="ellipse">
            <a:avLst/>
          </a:prstGeom>
          <a:solidFill>
            <a:srgbClr val="14375E">
              <a:alpha val="5000"/>
            </a:srgbClr>
          </a:solidFill>
          <a:ln w="9525">
            <a:solidFill>
              <a:srgbClr val="4A628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2295525" y="7665095"/>
            <a:ext cx="6670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292697" y="7912745"/>
            <a:ext cx="672554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68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REFERENTE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1266825" y="8915102"/>
            <a:ext cx="39186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8285559" y="8915102"/>
            <a:ext cx="38219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1266825" y="4247852"/>
            <a:ext cx="38219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9572625" y="3971627"/>
            <a:ext cx="7572375" cy="19050"/>
          </a:xfrm>
          <a:prstGeom prst="rect">
            <a:avLst/>
          </a:prstGeom>
          <a:solidFill>
            <a:srgbClr val="14375E"/>
          </a:solidFill>
          <a:ln/>
        </p:spPr>
      </p:sp>
      <p:sp>
        <p:nvSpPr>
          <p:cNvPr id="25" name="Text 23"/>
          <p:cNvSpPr/>
          <p:nvPr/>
        </p:nvSpPr>
        <p:spPr>
          <a:xfrm>
            <a:off x="9572625" y="4219277"/>
            <a:ext cx="100473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</a:t>
            </a:r>
            <a:endParaRPr lang="en-US" sz="3150" dirty="0"/>
          </a:p>
        </p:txBody>
      </p:sp>
      <p:sp>
        <p:nvSpPr>
          <p:cNvPr id="26" name="Shape 24"/>
          <p:cNvSpPr/>
          <p:nvPr/>
        </p:nvSpPr>
        <p:spPr>
          <a:xfrm>
            <a:off x="14885789" y="4352627"/>
            <a:ext cx="2259211" cy="409575"/>
          </a:xfrm>
          <a:prstGeom prst="roundRect">
            <a:avLst>
              <a:gd name="adj" fmla="val 50000"/>
            </a:avLst>
          </a:prstGeom>
          <a:ln w="9525">
            <a:solidFill>
              <a:srgbClr val="E893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066764" y="4457402"/>
            <a:ext cx="19734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68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Comprador económico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572625" y="4895552"/>
            <a:ext cx="779954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Absorbe directamente las pérdidas del OPEX causadas por cuellos de botella. Compra mitigación de riesgo, no programas culturales.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9572625" y="5752802"/>
            <a:ext cx="7572375" cy="952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572625" y="5990927"/>
            <a:ext cx="81081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</a:t>
            </a:r>
            <a:endParaRPr lang="en-US" sz="3150" dirty="0"/>
          </a:p>
        </p:txBody>
      </p:sp>
      <p:sp>
        <p:nvSpPr>
          <p:cNvPr id="31" name="Shape 29"/>
          <p:cNvSpPr/>
          <p:nvPr/>
        </p:nvSpPr>
        <p:spPr>
          <a:xfrm>
            <a:off x="14322623" y="6124277"/>
            <a:ext cx="2822377" cy="409575"/>
          </a:xfrm>
          <a:prstGeom prst="roundRect">
            <a:avLst>
              <a:gd name="adj" fmla="val 50000"/>
            </a:avLst>
          </a:prstGeom>
          <a:ln w="9525">
            <a:solidFill>
              <a:srgbClr val="14375E">
                <a:alpha val="18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503598" y="6229052"/>
            <a:ext cx="254509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68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Co-comprador / Influenciador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572625" y="6667202"/>
            <a:ext cx="779954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Motivado por controlar el gasto del Shadow IT y mitigar vulnerabilidades cibernéticas que la fricción cultural produce.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9572625" y="9296102"/>
            <a:ext cx="7572375" cy="952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572625" y="7524452"/>
            <a:ext cx="7572375" cy="9525"/>
          </a:xfrm>
          <a:prstGeom prst="rect">
            <a:avLst/>
          </a:prstGeom>
          <a:solidFill>
            <a:srgbClr val="14375E">
              <a:alpha val="1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572625" y="7762577"/>
            <a:ext cx="99000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</a:t>
            </a:r>
            <a:endParaRPr lang="en-US" sz="3150" dirty="0"/>
          </a:p>
        </p:txBody>
      </p:sp>
      <p:sp>
        <p:nvSpPr>
          <p:cNvPr id="37" name="Shape 35"/>
          <p:cNvSpPr/>
          <p:nvPr/>
        </p:nvSpPr>
        <p:spPr>
          <a:xfrm>
            <a:off x="15020776" y="7895927"/>
            <a:ext cx="2124224" cy="409575"/>
          </a:xfrm>
          <a:prstGeom prst="roundRect">
            <a:avLst>
              <a:gd name="adj" fmla="val 50000"/>
            </a:avLst>
          </a:prstGeom>
          <a:ln w="9525">
            <a:solidFill>
              <a:srgbClr val="14375E">
                <a:alpha val="18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201751" y="8000702"/>
            <a:ext cx="183847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68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Pilotos de bajo costo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9572625" y="8438852"/>
            <a:ext cx="779954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Pilotos centrados en descubrir el ROI oculto de las ineficiencias, garantizando altas conversiones a contratos recurrentes.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143000" y="9772650"/>
            <a:ext cx="234999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DigiKawsay · Pre-Seed 2026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6604903" y="9772650"/>
            <a:ext cx="61629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19113"/>
            <a:ext cx="76200" cy="76200"/>
          </a:xfrm>
          <a:prstGeom prst="ellipse">
            <a:avLst/>
          </a:prstGeom>
          <a:solidFill>
            <a:srgbClr val="E8932E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457200"/>
            <a:ext cx="220414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FOSO DEFENSIVO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5940832" y="457200"/>
            <a:ext cx="12803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DIGIKAWSAY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1047750"/>
            <a:ext cx="15697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 COMPETITIVA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1757809"/>
            <a:ext cx="15697200" cy="1437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100" b="1" spc="-102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foso inexpugnable: metodología sentipensante + ética algorítmica.</a:t>
            </a:r>
            <a:endParaRPr lang="en-US" sz="5100" dirty="0"/>
          </a:p>
        </p:txBody>
      </p:sp>
      <p:sp>
        <p:nvSpPr>
          <p:cNvPr id="7" name="Shape 5"/>
          <p:cNvSpPr/>
          <p:nvPr/>
        </p:nvSpPr>
        <p:spPr>
          <a:xfrm>
            <a:off x="1143000" y="4162127"/>
            <a:ext cx="5130701" cy="4002732"/>
          </a:xfrm>
          <a:prstGeom prst="rect">
            <a:avLst/>
          </a:prstGeom>
          <a:solidFill>
            <a:srgbClr val="FFFFFF">
              <a:alpha val="35000"/>
            </a:srgbClr>
          </a:solidFill>
          <a:ln w="9525">
            <a:solidFill>
              <a:srgbClr val="14375E">
                <a:alpha val="1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95425" y="4643140"/>
            <a:ext cx="3201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0276" y="4552652"/>
            <a:ext cx="381000" cy="381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95425" y="5162252"/>
            <a:ext cx="4558626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spc="-24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PII-Stripping nativo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495425" y="5756523"/>
            <a:ext cx="4558626" cy="205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Limpieza de datos personales de nivel corporativo para operar en ecosistemas B2B con compliance estricto. Privacidad por diseño, no por parche.</a:t>
            </a:r>
            <a:endParaRPr lang="en-US" sz="1575" dirty="0"/>
          </a:p>
        </p:txBody>
      </p:sp>
      <p:sp>
        <p:nvSpPr>
          <p:cNvPr id="12" name="Shape 9"/>
          <p:cNvSpPr/>
          <p:nvPr/>
        </p:nvSpPr>
        <p:spPr>
          <a:xfrm>
            <a:off x="6578501" y="4162127"/>
            <a:ext cx="5130850" cy="4002732"/>
          </a:xfrm>
          <a:prstGeom prst="rect">
            <a:avLst/>
          </a:prstGeom>
          <a:solidFill>
            <a:srgbClr val="FFFFFF">
              <a:alpha val="35000"/>
            </a:srgbClr>
          </a:solidFill>
          <a:ln w="9525">
            <a:solidFill>
              <a:srgbClr val="14375E">
                <a:alpha val="1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30926" y="4643140"/>
            <a:ext cx="3201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925" y="4552652"/>
            <a:ext cx="381000" cy="3810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30926" y="5162252"/>
            <a:ext cx="455878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spc="-24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Harbor emocional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6930926" y="5756523"/>
            <a:ext cx="4558780" cy="205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vigilancia. Validamos el estado emocional </a:t>
            </a:r>
            <a:pPr algn="l" indent="0" marL="0">
              <a:lnSpc>
                <a:spcPct val="150000"/>
              </a:lnSpc>
              <a:buNone/>
            </a:pPr>
            <a:r>
              <a:rPr lang="en-US" sz="1575" i="1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</a:t>
            </a:r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indagar, evadiendo la deseabilidad social y obteniendo señal real, no performativa.</a:t>
            </a:r>
            <a:endParaRPr lang="en-US" sz="1575" dirty="0"/>
          </a:p>
        </p:txBody>
      </p:sp>
      <p:sp>
        <p:nvSpPr>
          <p:cNvPr id="17" name="Shape 13"/>
          <p:cNvSpPr/>
          <p:nvPr/>
        </p:nvSpPr>
        <p:spPr>
          <a:xfrm>
            <a:off x="12014150" y="4162127"/>
            <a:ext cx="5130850" cy="4002732"/>
          </a:xfrm>
          <a:prstGeom prst="rect">
            <a:avLst/>
          </a:prstGeom>
          <a:solidFill>
            <a:srgbClr val="14375E"/>
          </a:solidFill>
          <a:ln w="9525">
            <a:solidFill>
              <a:srgbClr val="14375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2366575" y="4657427"/>
            <a:ext cx="177849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CORE MOAT</a:t>
            </a:r>
            <a:endParaRPr lang="en-US" sz="12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1575" y="4552652"/>
            <a:ext cx="381000" cy="3810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66575" y="5162252"/>
            <a:ext cx="455878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spc="-24" kern="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IAP integrada en código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12366575" y="5756523"/>
            <a:ext cx="4558780" cy="205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F4EFE6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integración tecnológica de la Investigación Acción Participativa es nuestro foso. Imposible de replicar por startups enfocadas en "encuestas rápidas".</a:t>
            </a:r>
            <a:endParaRPr lang="en-US" sz="1575" dirty="0"/>
          </a:p>
        </p:txBody>
      </p:sp>
      <p:sp>
        <p:nvSpPr>
          <p:cNvPr id="22" name="Shape 17"/>
          <p:cNvSpPr/>
          <p:nvPr/>
        </p:nvSpPr>
        <p:spPr>
          <a:xfrm>
            <a:off x="1143000" y="8545860"/>
            <a:ext cx="16002000" cy="693390"/>
          </a:xfrm>
          <a:prstGeom prst="rect">
            <a:avLst/>
          </a:prstGeom>
          <a:solidFill>
            <a:srgbClr val="E8932E">
              <a:alpha val="6000"/>
            </a:srgbClr>
          </a:solidFill>
          <a:ln w="9525">
            <a:solidFill>
              <a:srgbClr val="14375E">
                <a:alpha val="18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419225" y="8821043"/>
            <a:ext cx="6280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</a:t>
            </a:r>
            <a:endParaRPr lang="en-US" sz="975" dirty="0"/>
          </a:p>
        </p:txBody>
      </p:sp>
      <p:sp>
        <p:nvSpPr>
          <p:cNvPr id="24" name="Text 19"/>
          <p:cNvSpPr/>
          <p:nvPr/>
        </p:nvSpPr>
        <p:spPr>
          <a:xfrm>
            <a:off x="2199680" y="8745885"/>
            <a:ext cx="10047894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i="1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"El lenguaje no solo describe la realidad — la genera." — Ontología del lenguaje, principio rector de VAL.</a:t>
            </a:r>
            <a:endParaRPr lang="en-US" sz="1650" dirty="0"/>
          </a:p>
        </p:txBody>
      </p:sp>
      <p:sp>
        <p:nvSpPr>
          <p:cNvPr id="25" name="Text 20"/>
          <p:cNvSpPr/>
          <p:nvPr/>
        </p:nvSpPr>
        <p:spPr>
          <a:xfrm>
            <a:off x="1143000" y="9772650"/>
            <a:ext cx="234999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DigiKawsay · Pre-Seed 2026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6604903" y="9772650"/>
            <a:ext cx="61629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19113"/>
            <a:ext cx="76200" cy="76200"/>
          </a:xfrm>
          <a:prstGeom prst="ellipse">
            <a:avLst/>
          </a:prstGeom>
          <a:solidFill>
            <a:srgbClr val="E8932E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457200"/>
            <a:ext cx="123705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EQUIPO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5940832" y="457200"/>
            <a:ext cx="12803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DIGIKAWSAY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1047750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FUNDADOR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1757809"/>
            <a:ext cx="16482060" cy="1437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100" b="1" spc="-102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Arquitectos multidisciplinarios en la intersección de código, cultura y capital.</a:t>
            </a:r>
            <a:endParaRPr lang="en-US" sz="5100" dirty="0"/>
          </a:p>
        </p:txBody>
      </p:sp>
      <p:sp>
        <p:nvSpPr>
          <p:cNvPr id="7" name="Shape 5"/>
          <p:cNvSpPr/>
          <p:nvPr/>
        </p:nvSpPr>
        <p:spPr>
          <a:xfrm>
            <a:off x="1143000" y="4162127"/>
            <a:ext cx="5105400" cy="5795963"/>
          </a:xfrm>
          <a:prstGeom prst="rect">
            <a:avLst/>
          </a:prstGeom>
          <a:solidFill>
            <a:srgbClr val="FFFFFF">
              <a:alpha val="30000"/>
            </a:srgbClr>
          </a:solidFill>
          <a:ln w="9525">
            <a:solidFill>
              <a:srgbClr val="14375E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2525" y="4171652"/>
            <a:ext cx="5086350" cy="3814763"/>
          </a:xfrm>
          <a:prstGeom prst="rect">
            <a:avLst/>
          </a:prstGeom>
          <a:solidFill>
            <a:srgbClr val="EBE3D4"/>
          </a:solidFill>
          <a:ln/>
        </p:spPr>
      </p:sp>
      <p:sp>
        <p:nvSpPr>
          <p:cNvPr id="9" name="Text 7"/>
          <p:cNvSpPr/>
          <p:nvPr/>
        </p:nvSpPr>
        <p:spPr>
          <a:xfrm>
            <a:off x="1323975" y="7672090"/>
            <a:ext cx="18347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6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retrato fundador/a 01 ]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419225" y="8253115"/>
            <a:ext cx="46895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SOCIOLOGÍA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9225" y="8586490"/>
            <a:ext cx="468953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Organizacional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419225" y="9072265"/>
            <a:ext cx="468953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Investigación Acción Participativa, ontología del lenguaje, etnografía corporativa.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91300" y="4162127"/>
            <a:ext cx="5105400" cy="5795963"/>
          </a:xfrm>
          <a:prstGeom prst="rect">
            <a:avLst/>
          </a:prstGeom>
          <a:solidFill>
            <a:srgbClr val="14375E"/>
          </a:solidFill>
          <a:ln w="9525">
            <a:solidFill>
              <a:srgbClr val="1437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0825" y="4171652"/>
            <a:ext cx="5086350" cy="3814763"/>
          </a:xfrm>
          <a:prstGeom prst="rect">
            <a:avLst/>
          </a:prstGeom>
          <a:solidFill>
            <a:srgbClr val="F4EFE6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772275" y="7672090"/>
            <a:ext cx="18347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6" kern="0" dirty="0">
                <a:solidFill>
                  <a:srgbClr val="F4EFE6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retrato fundador/a 02 ]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867525" y="8253115"/>
            <a:ext cx="46895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IA / DATOS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67525" y="8557915"/>
            <a:ext cx="468953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Ciencias Computacionales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6867525" y="9043690"/>
            <a:ext cx="468953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4EFE6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multi-agente, TDA, arquitectura serverless en Cloudflare Workers.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039600" y="4162127"/>
            <a:ext cx="5105400" cy="5795963"/>
          </a:xfrm>
          <a:prstGeom prst="rect">
            <a:avLst/>
          </a:prstGeom>
          <a:solidFill>
            <a:srgbClr val="FFFFFF">
              <a:alpha val="30000"/>
            </a:srgbClr>
          </a:solidFill>
          <a:ln w="9525">
            <a:solidFill>
              <a:srgbClr val="14375E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049125" y="4171652"/>
            <a:ext cx="5086350" cy="3814763"/>
          </a:xfrm>
          <a:prstGeom prst="rect">
            <a:avLst/>
          </a:prstGeom>
          <a:solidFill>
            <a:srgbClr val="EBE3D4"/>
          </a:solidFill>
          <a:ln/>
        </p:spPr>
      </p:sp>
      <p:sp>
        <p:nvSpPr>
          <p:cNvPr id="21" name="Text 19"/>
          <p:cNvSpPr/>
          <p:nvPr/>
        </p:nvSpPr>
        <p:spPr>
          <a:xfrm>
            <a:off x="12220575" y="7672090"/>
            <a:ext cx="18347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6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retrato fundador/a 03 ]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2315825" y="8253115"/>
            <a:ext cx="46895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ESTRATEGIA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15825" y="8586490"/>
            <a:ext cx="468953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14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Consultoría B2B Enterprise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2315825" y="9072265"/>
            <a:ext cx="468953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marketing C-suite, GTM mid-market, transformaciones digitales y M&amp;A.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43000" y="9772650"/>
            <a:ext cx="234999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DigiKawsay · Pre-Seed 2026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604903" y="9772650"/>
            <a:ext cx="61629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19113"/>
            <a:ext cx="76200" cy="76200"/>
          </a:xfrm>
          <a:prstGeom prst="ellipse">
            <a:avLst/>
          </a:prstGeom>
          <a:solidFill>
            <a:srgbClr val="E8932E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457200"/>
            <a:ext cx="13049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F4EFE6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THE ASK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4764196" y="457200"/>
            <a:ext cx="245700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F4EFE6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DIGIKAWSAY · PRE-SEED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1047750"/>
            <a:ext cx="15697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FINANZAS Y PETICIÓN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1590675"/>
            <a:ext cx="15697200" cy="237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850" b="1" spc="-146" kern="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Financiando la escala: de </a:t>
            </a:r>
            <a:pPr algn="l" indent="0" marL="0">
              <a:lnSpc>
                <a:spcPct val="105000"/>
              </a:lnSpc>
              <a:buNone/>
            </a:pPr>
            <a:r>
              <a:rPr lang="en-US" sz="5850" b="1" spc="-146" kern="0" dirty="0">
                <a:solidFill>
                  <a:srgbClr val="F2B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pilotos validados </a:t>
            </a:r>
            <a:pPr algn="l" indent="0" marL="0">
              <a:lnSpc>
                <a:spcPct val="105000"/>
              </a:lnSpc>
              <a:buNone/>
            </a:pPr>
            <a:r>
              <a:rPr lang="en-US" sz="5850" b="1" spc="-146" kern="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infraestructura de enjambre distribuida.</a:t>
            </a:r>
            <a:endParaRPr lang="en-US" sz="5850" dirty="0"/>
          </a:p>
        </p:txBody>
      </p:sp>
      <p:sp>
        <p:nvSpPr>
          <p:cNvPr id="7" name="Shape 5"/>
          <p:cNvSpPr/>
          <p:nvPr/>
        </p:nvSpPr>
        <p:spPr>
          <a:xfrm>
            <a:off x="1143000" y="4406950"/>
            <a:ext cx="7211764" cy="4766221"/>
          </a:xfrm>
          <a:prstGeom prst="rect">
            <a:avLst/>
          </a:prstGeom>
          <a:solidFill>
            <a:srgbClr val="000000">
              <a:alpha val="18000"/>
            </a:srgbClr>
          </a:solidFill>
          <a:ln w="9525">
            <a:solidFill>
              <a:srgbClr val="F4EFE6">
                <a:alpha val="1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9725" y="4873675"/>
            <a:ext cx="646666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09725" y="5273725"/>
            <a:ext cx="6466664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0" b="1" spc="-420" kern="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pPr algn="l" indent="0" marL="0">
              <a:lnSpc>
                <a:spcPct val="95000"/>
              </a:lnSpc>
              <a:buNone/>
            </a:pPr>
            <a:r>
              <a:rPr lang="en-US" sz="10500" b="1" spc="-420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ct val="95000"/>
              </a:lnSpc>
              <a:buNone/>
            </a:pPr>
            <a:r>
              <a:rPr lang="en-US" sz="10500" b="1" spc="-420" kern="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0500" dirty="0"/>
          </a:p>
        </p:txBody>
      </p:sp>
      <p:sp>
        <p:nvSpPr>
          <p:cNvPr id="10" name="Shape 8"/>
          <p:cNvSpPr/>
          <p:nvPr/>
        </p:nvSpPr>
        <p:spPr>
          <a:xfrm>
            <a:off x="1609725" y="6769150"/>
            <a:ext cx="6278314" cy="9525"/>
          </a:xfrm>
          <a:prstGeom prst="rect">
            <a:avLst/>
          </a:prstGeom>
          <a:solidFill>
            <a:srgbClr val="F4EFE6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609725" y="6969175"/>
            <a:ext cx="6466664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F4EFE6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Ronda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F4EFE6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F4EFE6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construir la arquitectura definitiva en Python, bases vectoriales (Weaviate) y orquestación con LangGraph.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9725" y="8268295"/>
            <a:ext cx="313514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F4EFE6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09725" y="8477845"/>
            <a:ext cx="31351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institucional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44058" y="8268295"/>
            <a:ext cx="31353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F4EFE6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OBJETIVO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4058" y="8477845"/>
            <a:ext cx="313530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— 2026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212014" y="4699248"/>
            <a:ext cx="7932986" cy="9525"/>
          </a:xfrm>
          <a:prstGeom prst="rect">
            <a:avLst/>
          </a:prstGeom>
          <a:solidFill>
            <a:srgbClr val="F4EFE6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212014" y="4937373"/>
            <a:ext cx="6096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F4EFE6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974014" y="4937373"/>
            <a:ext cx="73861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v4.1 en pilotos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974014" y="5318373"/>
            <a:ext cx="738611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4EFE6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Capturando datos reales de fricción operativa, comprobando viabilidad empresarial y retención del usuario final.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9212014" y="6089898"/>
            <a:ext cx="7932986" cy="9525"/>
          </a:xfrm>
          <a:prstGeom prst="rect">
            <a:avLst/>
          </a:prstGeom>
          <a:solidFill>
            <a:srgbClr val="F4EFE6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212014" y="6328023"/>
            <a:ext cx="6096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974014" y="6328023"/>
            <a:ext cx="73861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enjambre en Python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974014" y="6709023"/>
            <a:ext cx="738611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4EFE6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LangGraph, Weaviate y stack vectorial nativo. Migración del prototipo serverless a producción multi-tenant.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9212014" y="8871198"/>
            <a:ext cx="7932986" cy="9525"/>
          </a:xfrm>
          <a:prstGeom prst="rect">
            <a:avLst/>
          </a:prstGeom>
          <a:solidFill>
            <a:srgbClr val="F4EFE6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212014" y="7480548"/>
            <a:ext cx="7932986" cy="9525"/>
          </a:xfrm>
          <a:prstGeom prst="rect">
            <a:avLst/>
          </a:prstGeom>
          <a:solidFill>
            <a:srgbClr val="F4EFE6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212014" y="7718673"/>
            <a:ext cx="6096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974014" y="7718673"/>
            <a:ext cx="73861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Eliminación del WoZ humano </a:t>
            </a:r>
            <a:pPr algn="l" indent="0" marL="0">
              <a:buNone/>
            </a:pPr>
            <a:r>
              <a:rPr lang="en-US" sz="1950" b="1" dirty="0">
                <a:solidFill>
                  <a:srgbClr val="E8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80–90%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974014" y="8099673"/>
            <a:ext cx="738611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F4EFE6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Escalabilidad técnica total del ecosistema de Agentes SaaS. ARR contractado y eficiencia operativa unitaria.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1143000" y="9554170"/>
            <a:ext cx="16002000" cy="9525"/>
          </a:xfrm>
          <a:prstGeom prst="rect">
            <a:avLst/>
          </a:prstGeom>
          <a:solidFill>
            <a:srgbClr val="F4EFE6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143000" y="9873258"/>
            <a:ext cx="21263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F4EFE6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ECOSISTEMA H PLUS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48364" y="9830395"/>
            <a:ext cx="38635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F4EFE6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H+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915721" y="9830395"/>
            <a:ext cx="14421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F4EFE6">
                    <a:alpha val="3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8440936" y="9830395"/>
            <a:ext cx="141952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F4EFE6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DigiKawsay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0241459" y="9830395"/>
            <a:ext cx="14421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F4EFE6">
                    <a:alpha val="3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0766673" y="9830395"/>
            <a:ext cx="5287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F4EFE6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5174516" y="9873258"/>
            <a:ext cx="204668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F4EFE6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contacto@digikawsay.com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43000" y="9772650"/>
            <a:ext cx="24169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F4EFE6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 · Pre-Seed 2026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6616214" y="9772650"/>
            <a:ext cx="60498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F4EFE6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2026-04-30T13:50:36Z</dcterms:created>
  <dcterms:modified xsi:type="dcterms:W3CDTF">2026-04-30T13:50:36Z</dcterms:modified>
</cp:coreProperties>
</file>